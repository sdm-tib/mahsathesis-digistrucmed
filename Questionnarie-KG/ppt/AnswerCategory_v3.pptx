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82" r:id="rId3"/>
    <p:sldId id="257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F62122-A02A-475E-AEE3-8C5089CD04BD}">
  <a:tblStyle styleId="{5FF62122-A02A-475E-AEE3-8C5089CD04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06c2d24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06c2d24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06c2d242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06c2d242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06c2d242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06c2d242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35941472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35941472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35941472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35941472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5941472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35941472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/>
              <a:t>Sentiment Scale &amp; the Knowledge Graph</a:t>
            </a: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11700" y="950000"/>
            <a:ext cx="85206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Every answer option for each questionnaire item was manually assigned a 5-point sentiment value (Very Negative → Very Positive). This gives every raw response a consistent, comparable meaning, so it can be encoded as a weighted attribute/edge in the knowledge graph and used for cross-question reasoning, aggregation, and comparison.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1600000" y="2250000"/>
          <a:ext cx="59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</a:rPr>
                        <a:t>Very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48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E0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</a:rPr>
                        <a:t>Very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00721"/>
            <a:ext cx="5509237" cy="440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Likert Scale Answers (Ordinal)</a:t>
            </a:r>
            <a:endParaRPr dirty="0"/>
          </a:p>
        </p:txBody>
      </p:sp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144710361"/>
              </p:ext>
            </p:extLst>
          </p:nvPr>
        </p:nvGraphicFramePr>
        <p:xfrm>
          <a:off x="952500" y="820000"/>
          <a:ext cx="7239025" cy="396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4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Scale Value</a:t>
                      </a:r>
                      <a:endParaRPr sz="1800" b="1"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 dirty="0"/>
                        <a:t>ME: Respond Label</a:t>
                      </a:r>
                      <a:endParaRPr sz="1800" b="1" dirty="0"/>
                    </a:p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 dirty="0"/>
                        <a:t>Scale 1-10</a:t>
                      </a:r>
                      <a:endParaRPr sz="1800" b="1" dirty="0"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 dirty="0"/>
                        <a:t>SUS: Respond Label</a:t>
                      </a:r>
                      <a:endParaRPr sz="1800" b="1" dirty="0"/>
                    </a:p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 dirty="0"/>
                        <a:t>Scale 1-5</a:t>
                      </a:r>
                      <a:endParaRPr sz="1800" b="1" dirty="0"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 dirty="0"/>
                        <a:t>Sentiment</a:t>
                      </a:r>
                      <a:endParaRPr sz="1800" b="1" dirty="0"/>
                    </a:p>
                  </a:txBody>
                  <a:tcPr marL="40000" marR="40000" marT="3000" marB="3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not at all (überhaupt nicht)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Not true at all (trifft gar nicht zu)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rgbClr val="FFFFFF"/>
                          </a:solidFill>
                        </a:rPr>
                        <a:t>Very Negative</a:t>
                      </a:r>
                      <a:endParaRPr dirty="0"/>
                    </a:p>
                  </a:txBody>
                  <a:tcPr marL="40000" marR="40000" marT="3000" marB="3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/>
                        <a:t>2</a:t>
                      </a:r>
                      <a:endParaRPr dirty="0"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</a:rPr>
                        <a:t>Very Negative</a:t>
                      </a:r>
                      <a:endParaRPr/>
                    </a:p>
                  </a:txBody>
                  <a:tcPr marL="40000" marR="40000" marT="3000" marB="3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b="1">
                          <a:solidFill>
                            <a:srgbClr val="000000"/>
                          </a:solidFill>
                        </a:rPr>
                        <a:t>Negative</a:t>
                      </a:r>
                      <a:endParaRPr/>
                    </a:p>
                  </a:txBody>
                  <a:tcPr marL="40000" marR="40000" marT="3000" marB="3000" anchor="ctr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b="1">
                          <a:solidFill>
                            <a:srgbClr val="000000"/>
                          </a:solidFill>
                        </a:rPr>
                        <a:t>Negative</a:t>
                      </a:r>
                      <a:endParaRPr/>
                    </a:p>
                  </a:txBody>
                  <a:tcPr marL="40000" marR="40000" marT="3000" marB="3000" anchor="ctr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True (trifft voll zu)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000000"/>
                          </a:solidFill>
                        </a:rPr>
                        <a:t>Neutral</a:t>
                      </a:r>
                      <a:endParaRPr/>
                    </a:p>
                  </a:txBody>
                  <a:tcPr marL="40000" marR="40000" marT="3000" marB="3000" anchor="ctr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000000"/>
                          </a:solidFill>
                        </a:rPr>
                        <a:t>Neutral</a:t>
                      </a:r>
                      <a:endParaRPr/>
                    </a:p>
                  </a:txBody>
                  <a:tcPr marL="40000" marR="40000" marT="3000" marB="3000" anchor="ctr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000000"/>
                          </a:solidFill>
                        </a:rPr>
                        <a:t>Positive</a:t>
                      </a:r>
                      <a:endParaRPr/>
                    </a:p>
                  </a:txBody>
                  <a:tcPr marL="40000" marR="40000" marT="3000" marB="3000" anchor="ctr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000000"/>
                          </a:solidFill>
                        </a:rPr>
                        <a:t>Positive</a:t>
                      </a:r>
                      <a:endParaRPr/>
                    </a:p>
                  </a:txBody>
                  <a:tcPr marL="40000" marR="40000" marT="3000" marB="3000" anchor="ctr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FFFF"/>
                          </a:solidFill>
                        </a:rPr>
                        <a:t>Very Positive</a:t>
                      </a:r>
                      <a:endParaRPr/>
                    </a:p>
                  </a:txBody>
                  <a:tcPr marL="40000" marR="40000" marT="3000" marB="3000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Very (sehr)</a:t>
                      </a: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0000" marR="40000" marT="3000" marB="30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  <a:endParaRPr dirty="0"/>
                    </a:p>
                  </a:txBody>
                  <a:tcPr marL="40000" marR="40000" marT="3000" marB="3000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ME1 Module Questions – 1–10 Likert Sentiment Scale</a:t>
            </a: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rPr dirty="0"/>
              <a:t>These 5 questions all use the generic 1–10 Likert sentiment mapping shown earlier (1–2 Very Negative, 3–4 Negative, 5–6 Neutral, 7–8 Positive, 9–10 Very Positive).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539708"/>
              </p:ext>
            </p:extLst>
          </p:nvPr>
        </p:nvGraphicFramePr>
        <p:xfrm>
          <a:off x="311700" y="1550000"/>
          <a:ext cx="85206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33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Question ID</a:t>
                      </a:r>
                    </a:p>
                  </a:txBody>
                  <a:tcP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German Question</a:t>
                      </a:r>
                    </a:p>
                  </a:txBody>
                  <a:tcP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English Translation</a:t>
                      </a:r>
                    </a:p>
                  </a:txBody>
                  <a:tcP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dirty="0"/>
                        <a:t>M00</a:t>
                      </a:r>
                      <a:r>
                        <a:rPr lang="en-US" sz="1000" dirty="0"/>
                        <a:t>2</a:t>
                      </a:r>
                      <a:endParaRPr sz="1000" dirty="0"/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Wie hilfreich fanden Sie die Inhalte des Moduls?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How helpful did you find the content of the module?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Degree</a:t>
                      </a:r>
                    </a:p>
                  </a:txBody>
                  <a:tcPr marL="40000" marR="40000" marT="6000" marB="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dirty="0"/>
                        <a:t>M003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Wurden all Ihre Fragen zum Thema ausreichend beantwortet?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Were all your questions on the topic answered sufficiently?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Degree</a:t>
                      </a:r>
                    </a:p>
                  </a:txBody>
                  <a:tcPr marL="40000" marR="40000" marT="6000" marB="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dirty="0"/>
                        <a:t>M004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Wie gut haben Sie den Stoff der einzelnen Lektionen verstanden?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How well did you understand the material of the individual lessons?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Degree</a:t>
                      </a:r>
                    </a:p>
                  </a:txBody>
                  <a:tcPr marL="40000" marR="40000" marT="6000" marB="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dirty="0"/>
                        <a:t>M006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Wie würden Sie die Gesamterfahrung mit den zur Verfügung gestellten Inhalten in diesem Modul bewerten?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How would you rate your overall experience with the content provided in this module?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Quality</a:t>
                      </a:r>
                    </a:p>
                  </a:txBody>
                  <a:tcPr marL="40000" marR="40000" marT="6000" marB="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33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dirty="0"/>
                        <a:t>M010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Haben Sie neue Erkenntnisse und Informationen durch die Bearbeitung des Moduls erhalten?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Did you gain new insights and information from working through the module?</a:t>
                      </a:r>
                    </a:p>
                  </a:txBody>
                  <a:tcPr marL="40000" marR="40000" marT="6000" marB="6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 dirty="0"/>
                        <a:t>Degree</a:t>
                      </a:r>
                    </a:p>
                  </a:txBody>
                  <a:tcPr marL="40000" marR="40000" marT="6000" marB="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dirty="0"/>
              <a:t>M005 – Media Type (Preference)</a:t>
            </a:r>
            <a:r>
              <a:rPr lang="en-US" sz="2200" b="1" dirty="0"/>
              <a:t>_No Answer Category</a:t>
            </a:r>
            <a:endParaRPr dirty="0"/>
          </a:p>
        </p:txBody>
      </p:sp>
      <p:sp>
        <p:nvSpPr>
          <p:cNvPr id="61" name="TextBox 60"/>
          <p:cNvSpPr txBox="1"/>
          <p:nvPr/>
        </p:nvSpPr>
        <p:spPr>
          <a:xfrm>
            <a:off x="311700" y="950000"/>
            <a:ext cx="8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04040"/>
                </a:solidFill>
              </a:defRPr>
            </a:pPr>
            <a:r>
              <a:rPr dirty="0"/>
              <a:t>Question ID: M005   |   Label: Preference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1700" y="1350000"/>
            <a:ext cx="8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German: „Medienart“   →   English: „Media type“</a:t>
            </a:r>
          </a:p>
          <a:p>
            <a:pPr>
              <a:spcBef>
                <a:spcPts val="1000"/>
              </a:spcBef>
              <a:defRPr sz="1300"/>
            </a:pPr>
            <a:r>
              <a:t>This is a categorical preference question (answer options: Text, Video, Quiz) with no inherent positive/negative order, so no sentiment value is assigned. It is captured in the knowledge graph as a preference attribute rather than a sentiment edge.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1200000" y="2450000"/>
          <a:ext cx="47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r>
                        <a:rPr sz="1200"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Option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Video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/>
                        <a:t>Quiz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/>
              <a:t>M007_01 / M008_01 – Open Text Responses</a:t>
            </a:r>
            <a:r>
              <a:rPr lang="en-US" sz="1800" b="1" dirty="0"/>
              <a:t>, No Answer </a:t>
            </a:r>
            <a:r>
              <a:rPr lang="en-US" sz="1800" b="1" dirty="0" err="1"/>
              <a:t>Categroy</a:t>
            </a:r>
            <a:endParaRPr dirty="0"/>
          </a:p>
        </p:txBody>
      </p:sp>
      <p:sp>
        <p:nvSpPr>
          <p:cNvPr id="61" name="TextBox 60"/>
          <p:cNvSpPr txBox="1"/>
          <p:nvPr/>
        </p:nvSpPr>
        <p:spPr>
          <a:xfrm>
            <a:off x="311700" y="950000"/>
            <a:ext cx="8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04040"/>
                </a:solidFill>
              </a:defRPr>
            </a:pPr>
            <a:r>
              <a:t>Label: Preference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1700" y="1350000"/>
            <a:ext cx="85000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dirty="0"/>
              <a:t>M007_01 (</a:t>
            </a:r>
            <a:r>
              <a:rPr dirty="0" err="1"/>
              <a:t>Freitext</a:t>
            </a:r>
            <a:r>
              <a:rPr dirty="0"/>
              <a:t> </a:t>
            </a:r>
            <a:r>
              <a:rPr dirty="0" err="1"/>
              <a:t>positiv</a:t>
            </a:r>
            <a:r>
              <a:rPr dirty="0"/>
              <a:t>): „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 Sie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Antwort</a:t>
            </a:r>
            <a:r>
              <a:rPr dirty="0"/>
              <a:t> </a:t>
            </a:r>
            <a:r>
              <a:rPr dirty="0" err="1"/>
              <a:t>verfassen</a:t>
            </a:r>
            <a:r>
              <a:rPr dirty="0"/>
              <a:t>“ → „Open </a:t>
            </a:r>
            <a:r>
              <a:rPr dirty="0" err="1"/>
              <a:t>text</a:t>
            </a:r>
            <a:r>
              <a:rPr lang="en-US" dirty="0" err="1"/>
              <a:t>:</a:t>
            </a:r>
            <a:r>
              <a:rPr dirty="0" err="1"/>
              <a:t>You</a:t>
            </a:r>
            <a:r>
              <a:rPr dirty="0"/>
              <a:t> can write your answer here“</a:t>
            </a:r>
          </a:p>
          <a:p>
            <a:pPr>
              <a:spcBef>
                <a:spcPts val="1000"/>
              </a:spcBef>
              <a:defRPr sz="1300"/>
            </a:pPr>
            <a:r>
              <a:rPr dirty="0"/>
              <a:t>M008_01 (</a:t>
            </a:r>
            <a:r>
              <a:rPr dirty="0" err="1"/>
              <a:t>Freitext</a:t>
            </a:r>
            <a:r>
              <a:rPr dirty="0"/>
              <a:t> </a:t>
            </a:r>
            <a:r>
              <a:rPr dirty="0" err="1"/>
              <a:t>Wünsche</a:t>
            </a:r>
            <a:r>
              <a:rPr dirty="0"/>
              <a:t>): „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 Sie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Antwort</a:t>
            </a:r>
            <a:r>
              <a:rPr dirty="0"/>
              <a:t> </a:t>
            </a:r>
            <a:r>
              <a:rPr dirty="0" err="1"/>
              <a:t>verfassen</a:t>
            </a:r>
            <a:r>
              <a:rPr dirty="0"/>
              <a:t>“ → „Open text </a:t>
            </a:r>
            <a:r>
              <a:rPr lang="en-US" dirty="0"/>
              <a:t>:</a:t>
            </a:r>
            <a:r>
              <a:rPr dirty="0"/>
              <a:t>You can write your answer here“</a:t>
            </a:r>
          </a:p>
          <a:p>
            <a:pPr>
              <a:spcBef>
                <a:spcPts val="1400"/>
              </a:spcBef>
              <a:defRPr sz="1300"/>
            </a:pPr>
            <a:r>
              <a:rPr dirty="0"/>
              <a:t>Both are open-ended free-text fields with no predefined answer options, so no manual 5-point sentiment scale is defined for them. If needed, sentiment for these could be derived later via text/NLP-based sentiment analysis rather than the fixed mapping used for the closed-ended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SU01_01 – System Usability Scale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denke, ich würde die Lernplattform gerne häufiger benutzen.“   →   EN: „I think I would like to use the learning platform more frequently.“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SU01_02 – System Usability Scale (reverse-scored)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finde die Lernplattform unnötig komplex.“   →   EN: „I find the learning platform unnecessarily complex.“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   |   Note: negatively worded statement; agreement is inverted before mapping to sentiment.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SU01_03 – System Usability Scale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finde, die Lernplattform ist einfach zu benutzen.“   →   EN: „I find the learning platform easy to use.“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SU01_04 – System Usability Scale (reverse-scored)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denke, ich würde die Unterstützung einer technisch versierten Person benötigen, um die Lernplattform benutzen zu können.“   →   EN: „I think I would need the support of a technically skilled person to be able to use the learning platform.“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   |   Note: negatively worded statement; agreement is inverted before mapping to sentiment.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SU01_05 – System Usability Scale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finde, die verschiedenen Funktionen in diesem Programm sind gut integriert.“   →   EN: „I find the various functions in this program well integrated.“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SU01_06 – System Usability Scale (reverse-scored)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denke, es gibt zu viele Inkonsistenzen auf der Lernplattform.“   →   EN: „I think there are too many inconsistencies in the learning platform.“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   |   Note: negatively worded statement; agreement is inverted before mapping to sentiment.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SU01_07 – System Usability Scale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könnte mir vorstellen, dass die meisten Personen sehr schnell lernen würden, mit diesem Programm umzugehen.“   →   EN: „I would imagine that most people would learn to use this program very quickly.“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SU01_08 – System Usability Scale (reverse-scored)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fand die Lernplattform sehr umständlich zu nutzen.“   →   EN: „I found the learning platform very cumbersome to use.“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   |   Note: negatively worded statement; agreement is inverted before mapping to sentiment.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SU01_09 – System Usability Scale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fühlte mich sehr sicher bei der Benutzung der Lernplattform.“   →   EN: „I felt very confident using the learning platform.“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9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voll zu</a:t>
                      </a:r>
                    </a:p>
                  </a:txBody>
                  <a:tcPr marL="45000" marR="45000" marT="8000" marB="8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8000" marB="8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2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8000" marB="8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3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8000" marB="8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4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8000" marB="8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trifft gar nicht zu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100"/>
                        <a:t>Strongly disagree</a:t>
                      </a:r>
                    </a:p>
                  </a:txBody>
                  <a:tcPr marL="45000" marR="45000" marT="8000" marB="8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8000" marB="8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80000"/>
            <a:ext cx="8520600" cy="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SU01_10 – System Usability Scale (reverse-scored)</a:t>
            </a: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1700" y="95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404040"/>
                </a:solidFill>
              </a:defRPr>
            </a:pPr>
            <a:r>
              <a:t>DE: „Ich musste eine Menge lernen, bevor ich mit der Lernplattform zurechtkam.“   →   EN: „I had to learn a lot before I could get going with the learning platform.“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48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404040"/>
                </a:solidFill>
              </a:defRPr>
            </a:pPr>
            <a:r>
              <a:t>Label: Agreement   |   Note: negatively worded statement; agreement is inverted before mapping to sentiment.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/>
          <p:cNvGraphicFramePr/>
          <p:nvPr>
            <p:extLst>
              <p:ext uri="{D42A27DB-BD31-4B8C-83A1-F6EECF244321}">
                <p14:modId xmlns:p14="http://schemas.microsoft.com/office/powerpoint/2010/main" val="37591250"/>
              </p:ext>
            </p:extLst>
          </p:nvPr>
        </p:nvGraphicFramePr>
        <p:xfrm>
          <a:off x="952500" y="1050000"/>
          <a:ext cx="7239000" cy="277359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Langweilig, gar nicht unterhaltsam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Boring, not entertaining at all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Überwiegend langweilig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Mostly boring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</a:rPr>
                        <a:t>OK, unterhaltsam genug um sich für eine kurze Zeit mit der Lernplattform zu beschäftigen (&lt; 5 Minuten)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OK, entertaining enough to keep a user engaged with the learning platform for a short time (&lt; 5 minutes)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</a:rPr>
                        <a:t>Neutral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Mittelmäßig lustig und unterhaltsam, würde einen User für einige Zeit unterhalten (5-10 Minuten)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Moderately funny and entertaining; would keep a user entertained for a while (5–10 minutes)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Sehr unterhaltsam und lustig, regt zu mehrmaligen Benutzen an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Very entertaining and funny; encourages repeated use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  <a:endParaRPr sz="1200" dirty="0"/>
                    </a:p>
                  </a:txBody>
                  <a:tcPr marL="91425" marR="91425" marT="91425" marB="91425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A1 – Entertainment Value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UM01  |  Label: Quality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6"/>
          <p:cNvGraphicFramePr/>
          <p:nvPr>
            <p:extLst>
              <p:ext uri="{D42A27DB-BD31-4B8C-83A1-F6EECF244321}">
                <p14:modId xmlns:p14="http://schemas.microsoft.com/office/powerpoint/2010/main" val="460258080"/>
              </p:ext>
            </p:extLst>
          </p:nvPr>
        </p:nvGraphicFramePr>
        <p:xfrm>
          <a:off x="952500" y="1050000"/>
          <a:ext cx="7239000" cy="3517535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Überhaupt</a:t>
                      </a:r>
                      <a:r>
                        <a:rPr lang="en" sz="1200" dirty="0"/>
                        <a:t> nicht interessant</a:t>
                      </a:r>
                      <a:endParaRPr sz="1200" dirty="0"/>
                    </a:p>
                  </a:txBody>
                  <a:tcPr marL="91425" marR="91425" marT="91425" marB="91425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Boring, not entertaining at all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Überwiegend nicht interessant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Mostly boring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OK, weder interessant noch uninteressant; Nutzer würden sich damit eine kurze Zeit beschäftigen (&lt; 5 Minuten)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OK, neither interesting nor uninteresting; users would spend a short amount of time on it (&lt; 5 minutes)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</a:rPr>
                        <a:t>Neutral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Mittelmäßig interessant; Nutzer würden sich damit einige Zeit beschäftigen (insgesamt 5-10 Minuten)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Moderately funny and entertaining; would keep a user entertained for a while (5–10 minutes)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Überaus interessant, so dass man zur wiederholten Nutzung der Lernplattform angeregt wird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Very entertaining and funny; encourages repeated use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  <a:endParaRPr sz="1200" dirty="0"/>
                    </a:p>
                  </a:txBody>
                  <a:tcPr marL="91425" marR="91425" marT="91425" marB="91425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A2 – Interest &amp; Engagement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UM02  |  Label: Quality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/>
          <p:cNvGraphicFramePr/>
          <p:nvPr>
            <p:extLst>
              <p:ext uri="{D42A27DB-BD31-4B8C-83A1-F6EECF244321}">
                <p14:modId xmlns:p14="http://schemas.microsoft.com/office/powerpoint/2010/main" val="2896818913"/>
              </p:ext>
            </p:extLst>
          </p:nvPr>
        </p:nvGraphicFramePr>
        <p:xfrm>
          <a:off x="952500" y="1050000"/>
          <a:ext cx="7239000" cy="362865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Keine interaktiven Funktionen und/oder keine Eingaben der Nutzer sind möglich</a:t>
                      </a:r>
                      <a:endParaRPr sz="1100" dirty="0"/>
                    </a:p>
                  </a:txBody>
                  <a:tcPr marL="91425" marR="91425" marT="91425" marB="91425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interactive features and/or user input are possible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FFFFFF"/>
                          </a:solidFill>
                        </a:rPr>
                        <a:t>Very Negative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Unzureichende Interaktivität, oder Feedback, oder Optionen für Eingaben der User, limitierte Funktionalität</a:t>
                      </a:r>
                      <a:endParaRPr sz="11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Insufficient interactivity, feedback, or options for user input; limited functionality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Grundlegende interaktive Funktionen, angemessene Funktionalität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Basic interactive features, adequate functionality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</a:rPr>
                        <a:t>Neutral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5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Vielfältige interaktive Funktionen, Feedback und Optionen für Eingaben der Nutzer sind vorhanden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 wide range of interactive features, feedback, and options for user input are available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sz="1100"/>
                    </a:p>
                  </a:txBody>
                  <a:tcPr marL="91425" marR="91425" marT="91425" marB="91425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Interaktive Funktionen, Feedback und Optionen für Eingaben der Nutzer sind auf einem so hohen Niveau, dass man das Gefühl hat, die Lernplattform stellt sich auf die Person des Nutzers ein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Interactive features, feedback, and user input options are so advanced that it feels as though the learning platform adapts to each individual user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  <a:endParaRPr sz="1100" dirty="0"/>
                    </a:p>
                  </a:txBody>
                  <a:tcPr marL="91425" marR="91425" marT="91425" marB="91425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A3 – Interactivity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UM03  |  Label: Quality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18"/>
          <p:cNvGraphicFramePr/>
          <p:nvPr>
            <p:extLst>
              <p:ext uri="{D42A27DB-BD31-4B8C-83A1-F6EECF244321}">
                <p14:modId xmlns:p14="http://schemas.microsoft.com/office/powerpoint/2010/main" val="1453436805"/>
              </p:ext>
            </p:extLst>
          </p:nvPr>
        </p:nvGraphicFramePr>
        <p:xfrm>
          <a:off x="782875" y="1050000"/>
          <a:ext cx="7239000" cy="35573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Sehr unpassend/unklar/verwirrend</a:t>
                      </a:r>
                      <a:endParaRPr sz="1200"/>
                    </a:p>
                  </a:txBody>
                  <a:tcPr marL="91425" marR="91425" marT="91425" marB="91425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Very inappropriate/unclear/confusing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Eher unpassend/unklar/verwirrend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Somewhat inappropriate/unclear/confusing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OK, aber nicht Zielgruppen orientiert. Kann unpassend/unklar/verwirrend sein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OK, but not tailored to the target audience. May be inappropriate/unclear/confusing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</a:rPr>
                        <a:t>Neutral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Zielgruppenspezifisch, mit kleinen Mängeln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Tailored to the target audience, with minor flaws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Sehr zielgruppenspezifisch, keine Probleme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Very well tailored to the target audience, no problems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  <a:endParaRPr sz="1200" dirty="0"/>
                    </a:p>
                  </a:txBody>
                  <a:tcPr marL="91425" marR="91425" marT="91425" marB="91425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A4 – Target Audience Fit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UM04  |  Label: Quality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3927826800"/>
              </p:ext>
            </p:extLst>
          </p:nvPr>
        </p:nvGraphicFramePr>
        <p:xfrm>
          <a:off x="827480" y="1317629"/>
          <a:ext cx="7239000" cy="3215705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Die Lernplattform funktioniert nicht. Keine oder unzureichende Antwort (z.B. Abbrüche, Fehler, nicht funktionierende Funktionen, etc.)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The learning platform is not working. No response or an inadequate response (e.g., crashes, errors, features not working, etc.)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Einige Funktionen laufen, jedoch langsam oder größere technische Probleme.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Some features are working, but slowly or with major technical issues.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Lernplattform funktioniert im Allgemeinen. Einige technische Probleme oder gelegentlich langsam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The learning platform generally works. Some technical issues or occasional slowness.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2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Die </a:t>
                      </a:r>
                      <a:r>
                        <a:rPr sz="1200" dirty="0" err="1"/>
                        <a:t>Lernplattform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funktioniert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insgesamt</a:t>
                      </a:r>
                      <a:r>
                        <a:rPr sz="1200" dirty="0"/>
                        <a:t> gut, </a:t>
                      </a:r>
                      <a:r>
                        <a:rPr sz="1200" dirty="0" err="1"/>
                        <a:t>mit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kleineren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vernachlässigbaren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Problemen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The learning platform works well overall, with minor, negligible issues.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Die Lernplattform arbeitet fehlerfrei und schnell; keine technischen Fehler, oder – falls zutreffend – enthält einen Fortschrittsbalken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The learning platform operates quickly and without errors; no technical errors, or—if applicable—includes a progress bar.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B1 – System Functionality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UM06  |  Label: Quality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3977791205"/>
              </p:ext>
            </p:extLst>
          </p:nvPr>
        </p:nvGraphicFramePr>
        <p:xfrm>
          <a:off x="790309" y="1354800"/>
          <a:ext cx="7239000" cy="291834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Keine oder unzureichende Erklärungen; Menübeschriftungen und Symbole sind verwirrend und/oder kompliziert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No explanations or insufficient explanations; menu labels and icons are confusing and/or complicated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Nach hohem Aufwand benutzbar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Usable after considerable effort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 err="1"/>
                        <a:t>Nach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einigem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Aufwand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benutzbar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Usable after some effort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447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 err="1"/>
                        <a:t>Benutzung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ist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leicht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erlernbar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oder</a:t>
                      </a:r>
                      <a:r>
                        <a:rPr sz="1200" dirty="0"/>
                        <a:t> die </a:t>
                      </a:r>
                      <a:r>
                        <a:rPr sz="1200" dirty="0" err="1"/>
                        <a:t>Lernplattform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weist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klare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Instruktionen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zur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Benutzung</a:t>
                      </a:r>
                      <a:r>
                        <a:rPr sz="1200" dirty="0"/>
                        <a:t> auf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Easy to learn how to use, or the learning platform provides clear instructions for use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Eine intuitive und </a:t>
                      </a:r>
                      <a:r>
                        <a:rPr sz="1200" dirty="0" err="1"/>
                        <a:t>einfache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Benutzung</a:t>
                      </a:r>
                      <a:r>
                        <a:rPr sz="1200" dirty="0"/>
                        <a:t> der </a:t>
                      </a:r>
                      <a:r>
                        <a:rPr sz="1200" dirty="0" err="1"/>
                        <a:t>Lernplattform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ist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sofort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möglich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The learning platform can be used intuitively and easily right away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B2 – Ease of Use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UM07  |  Label: Quality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1085931825"/>
              </p:ext>
            </p:extLst>
          </p:nvPr>
        </p:nvGraphicFramePr>
        <p:xfrm>
          <a:off x="782875" y="1195025"/>
          <a:ext cx="7239000" cy="2747974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Verschiedene Abschnitte wirken unzusammenhängend/zufällig/verwirrend. Die Navigation ist kompliziert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Various sections seem disjointed/random/confusing. Navigation is complicated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Nach geraumer Zeit und hohem Aufwand benutzbar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Usable after a considerable amount of time and effort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Nach einiger Zeit und einigem Bemühen benutzbar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Usable after some time and some effort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23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 err="1"/>
                        <a:t>Leicht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zu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bedienen</a:t>
                      </a:r>
                      <a:r>
                        <a:rPr sz="1200" dirty="0"/>
                        <a:t>; es </a:t>
                      </a:r>
                      <a:r>
                        <a:rPr sz="1200" dirty="0" err="1"/>
                        <a:t>fehlen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vernachlässigbare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Verknüpfungen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Easy to use; only a few minor shortcuts are missing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Sehr logisch, einfach, klar und intuitive Menüführung. Bietet Verknüpfungen zum schnellen Wechsel zwischen verschiedenen Bereichen/Menüpunkten an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Very logical, simple, clear, and intuitive menu navigation. Provides shortcuts for quickly switching between different sections/menu items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B3 – Navigation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UM08  |  Label: Quality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3954431198"/>
              </p:ext>
            </p:extLst>
          </p:nvPr>
        </p:nvGraphicFramePr>
        <p:xfrm>
          <a:off x="782875" y="1050000"/>
          <a:ext cx="7239000" cy="4008121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03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Mangelhaftes Design – unordentlich/ungeordnet; einige Optionen können nicht ausgewählt, gefunden, gesehen oder gelesen werden; Bildschirm wird nicht optimal genutzt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Poor design—messy/disorganized; some options cannot be selected, found, seen, or read; screen space is not used optimally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 err="1"/>
                        <a:t>Schwaches</a:t>
                      </a:r>
                      <a:r>
                        <a:rPr sz="1200" dirty="0"/>
                        <a:t> Design - </a:t>
                      </a:r>
                      <a:r>
                        <a:rPr sz="1200" dirty="0" err="1"/>
                        <a:t>nicht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einheitlich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unklar</a:t>
                      </a:r>
                      <a:r>
                        <a:rPr sz="1200" dirty="0"/>
                        <a:t>; </a:t>
                      </a:r>
                      <a:r>
                        <a:rPr sz="1200" dirty="0" err="1"/>
                        <a:t>einige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Optionen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sind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schwierig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auszuwählen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zu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finden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zu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sehen</a:t>
                      </a:r>
                      <a:r>
                        <a:rPr sz="1200" dirty="0"/>
                        <a:t> und </a:t>
                      </a:r>
                      <a:r>
                        <a:rPr sz="1200" dirty="0" err="1"/>
                        <a:t>zu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lesen</a:t>
                      </a:r>
                      <a:r>
                        <a:rPr sz="1200" dirty="0"/>
                        <a:t>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Weak design—inconsistent, unclear; some options are difficult to select, find, see, and read.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Mittelmäßige Qualität des Designs - einige Probleme Optionen auszuwählen, zu finden, zu sehen und zu lesen.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Mediocre design quality—some difficulty selecting, finding, seeing, and reading options.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873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Gutes Design - überwiegend klar; Optionen können ausgewählt, gefunden, gesehen und gelesen werden.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Good design—mostly clear; options can be selected, found, seen, and read.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Professionelles Design - einfach, klar, übersichtlich, logisch organisiert; Bildschirm wird optimal genutzt; jede einzelne Komponente des Designs erfüllt seinen Zweck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Professional design—simple, clear, well-organized, logically structured; screen space is used optimally; every design component serves its purpose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C1 – Overall Design Quality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UM09  |  Label: Quality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745495336"/>
              </p:ext>
            </p:extLst>
          </p:nvPr>
        </p:nvGraphicFramePr>
        <p:xfrm>
          <a:off x="782875" y="1050000"/>
          <a:ext cx="7239000" cy="3468466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Grafiken wirken amateurhaft, schlechtes visuelles Design - völlig unproportional, stilistisch nicht einheitlich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Graphics look amateurish; poor visual design—completely out of proportion and stylistically inconsistent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Niedrige Qualität (z.B. Auflösung) der Grafiken. Niedrige Qualität des visuellen Designs - unproportional und stilistisch nicht einheitlich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Low quality (e.g., resolution) of graphics. Low quality of visual design—out of proportion and stylistically inconsistent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Mittelmäßige Qualität der Grafiken und des visuellen Designs - überwiegend einheitlich im Design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Mediocre quality of graphics and visual design—mostly consistent in design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429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 err="1"/>
                        <a:t>Hohe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Qualität</a:t>
                      </a:r>
                      <a:r>
                        <a:rPr sz="1200" dirty="0"/>
                        <a:t> der </a:t>
                      </a:r>
                      <a:r>
                        <a:rPr sz="1200" dirty="0" err="1"/>
                        <a:t>Grafiken</a:t>
                      </a:r>
                      <a:r>
                        <a:rPr sz="1200" dirty="0"/>
                        <a:t> und </a:t>
                      </a:r>
                      <a:r>
                        <a:rPr sz="1200" dirty="0" err="1"/>
                        <a:t>gute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Auflösung</a:t>
                      </a:r>
                      <a:r>
                        <a:rPr sz="1200" dirty="0"/>
                        <a:t> des </a:t>
                      </a:r>
                      <a:r>
                        <a:rPr sz="1200" dirty="0" err="1"/>
                        <a:t>visuellen</a:t>
                      </a:r>
                      <a:r>
                        <a:rPr sz="1200" dirty="0"/>
                        <a:t> Designs - </a:t>
                      </a:r>
                      <a:r>
                        <a:rPr sz="1200" dirty="0" err="1"/>
                        <a:t>überwiegend</a:t>
                      </a:r>
                      <a:r>
                        <a:rPr sz="1200" dirty="0"/>
                        <a:t> proportional und </a:t>
                      </a:r>
                      <a:r>
                        <a:rPr sz="1200" dirty="0" err="1"/>
                        <a:t>einheitlich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im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Stil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High-quality graphics and good resolution in the visual design—mostly proportional and consistent in style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Sehr hohe Qualität der Grafiken und sehr gute Auflösung des visuellen Designs - durchgehend proportional und einheitlich im Stil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Very high-quality graphics and very good resolution in the visual design—consistently proportional and consistent in style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C2 – Graphics Quality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UM10  |  Label: Quality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1610415263"/>
              </p:ext>
            </p:extLst>
          </p:nvPr>
        </p:nvGraphicFramePr>
        <p:xfrm>
          <a:off x="790309" y="1195025"/>
          <a:ext cx="7239000" cy="3466469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Kein visueller Anreiz - unangenehm zu betrachten, schwaches Design, beißende oder nicht zusammenpassende Farben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No visual appeal—unpleasant to look at, poor design, jarring or mismatched colors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Wenig visueller Anreiz - schlechtes Design, schlechter Farbgebrauch, visuell langweilig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Little visual appeal—poor design, poor use of color, visually boring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Etwas visueller Anreiz - durchschnittlich weder angenehm noch unangenehm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Some visual appeal—neither particularly pleasant nor unpleasant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997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Hoher </a:t>
                      </a:r>
                      <a:r>
                        <a:rPr sz="1200" dirty="0" err="1"/>
                        <a:t>visueller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Anreiz</a:t>
                      </a:r>
                      <a:r>
                        <a:rPr sz="1200" dirty="0"/>
                        <a:t> - </a:t>
                      </a:r>
                      <a:r>
                        <a:rPr sz="1200" dirty="0" err="1"/>
                        <a:t>makellose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Grafiken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einheitliches</a:t>
                      </a:r>
                      <a:r>
                        <a:rPr sz="1200" dirty="0"/>
                        <a:t> und </a:t>
                      </a:r>
                      <a:r>
                        <a:rPr sz="1200" dirty="0" err="1"/>
                        <a:t>professionelles</a:t>
                      </a:r>
                      <a:r>
                        <a:rPr sz="1200" dirty="0"/>
                        <a:t> Design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High visual appeal—flawless graphics, consistent and professional design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Wie in Punkt 4 beschrieben, darüber hinaus: Überaus großer visueller Anreiz - einprägsam, sticht positiv heraus; Farbgestaltung wirkt sich positiv auf die Optionen und die Menüführung der Lernplattform aus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As described in point 4, plus: Exceptionally high visual appeal—memorable, stands out positively; color scheme has a positive effect on the learning platform’s options and menu navigation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C3 – Visual Appeal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UM11  |  Label: Quality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826334048"/>
              </p:ext>
            </p:extLst>
          </p:nvPr>
        </p:nvGraphicFramePr>
        <p:xfrm>
          <a:off x="820046" y="1362234"/>
          <a:ext cx="7239000" cy="3275179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Die Lernplattform enthält keine Informationen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The learning platform contains no information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Empty</a:t>
                      </a:r>
                    </a:p>
                  </a:txBody>
                  <a:tcPr marL="45000" marR="45000" marT="10000" marB="10000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Irrelevant, ungeeignet, unzusammenhängend, nicht korrekt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Irrelevant, unsuitable, incoherent, incorrect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Kaum relevant, kaum geeignet, kaum zusammenhängend, möglicherweise nicht korrekt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Barely relevant, barely suitable, barely coherent, possibly incorrect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487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 err="1"/>
                        <a:t>Mittelmäßig</a:t>
                      </a:r>
                      <a:r>
                        <a:rPr sz="1200" dirty="0"/>
                        <a:t> relevant, </a:t>
                      </a:r>
                      <a:r>
                        <a:rPr sz="1200" dirty="0" err="1"/>
                        <a:t>mittelmäßig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geeignet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mittelmäßig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zusammenhängend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wirkt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korrekt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Moderately relevant, moderately suitable, moderately coherent, appears correct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391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Relevant, geeignet, zusammenhängend, korrekt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Relevant, suitable, coherent, correct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Sehr Relevant, sehr geeignet, sehr zusammenhängend, sehr korrekt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Very relevant, very suitable, very coherent, very correct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D1 – Content Relevance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UM12  |  Label: Quality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3713473205"/>
              </p:ext>
            </p:extLst>
          </p:nvPr>
        </p:nvGraphicFramePr>
        <p:xfrm>
          <a:off x="775441" y="1295327"/>
          <a:ext cx="7239000" cy="3344987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Die Lernplattform beinhaltet keine Informationen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The learning platform does not contain any information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Empty</a:t>
                      </a:r>
                    </a:p>
                  </a:txBody>
                  <a:tcPr marL="45000" marR="45000" marT="10000" marB="10000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Minimal oder überfordernd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Minimal or overwhelming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Unzureichend oder möglicherweise überfordernd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Insufficient or potentially overwhelming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50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Ok, </a:t>
                      </a:r>
                      <a:r>
                        <a:rPr sz="1200" dirty="0" err="1"/>
                        <a:t>aber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weder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umfangreich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noch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prägnant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Okay, but neither comprehensive nor concise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Bietet eine große Menge an Informationen, hat Lücken oder unnötige Details oder bietet keine weiteren Hinweise auf Literatur zum Vertiefen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Offers a large amount of information, has gaps or unnecessary details, or does not provide further references to literature for further study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Umfangreich und prägnant; beinhaltet Hinweise auf Literatur zum Vertiefen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Comprehensive and concise; includes references to literature for further study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D2 – Content Comprehensiveness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UM13  |  Label: Quality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3918643121"/>
              </p:ext>
            </p:extLst>
          </p:nvPr>
        </p:nvGraphicFramePr>
        <p:xfrm>
          <a:off x="782875" y="1302761"/>
          <a:ext cx="7239000" cy="3334652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Lernplattform beinhaltet keine visuellen Informationen (beinhaltet z.B. nur Audio-Dateien oder Text)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The learning platform does not contain any visual information (e.g., it contains only audio files or text)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Empty</a:t>
                      </a:r>
                    </a:p>
                  </a:txBody>
                  <a:tcPr marL="45000" marR="45000" marT="10000" marB="10000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Vollkommen unklar/verwirrend/falsch oder visuelle Informationen sind eigentlich nötig, fehlen aber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Completely unclear/confusing/incorrect, or visual information is actually necessary but is missing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Überwiegend unklar/verwirrend/falsch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Mostly unclear/confusing/incorrect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67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Ok, </a:t>
                      </a:r>
                      <a:r>
                        <a:rPr sz="1200" dirty="0" err="1"/>
                        <a:t>aber</a:t>
                      </a:r>
                      <a:r>
                        <a:rPr sz="1200" dirty="0"/>
                        <a:t> oft </a:t>
                      </a:r>
                      <a:r>
                        <a:rPr sz="1200" dirty="0" err="1"/>
                        <a:t>unklar</a:t>
                      </a:r>
                      <a:r>
                        <a:rPr sz="1200" dirty="0"/>
                        <a:t>/</a:t>
                      </a:r>
                      <a:r>
                        <a:rPr sz="1200" dirty="0" err="1"/>
                        <a:t>verwirrend</a:t>
                      </a:r>
                      <a:r>
                        <a:rPr sz="1200" dirty="0"/>
                        <a:t>/</a:t>
                      </a:r>
                      <a:r>
                        <a:rPr sz="1200" dirty="0" err="1"/>
                        <a:t>falsch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Okay, but often unclear/confusing/incorrect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903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Meistens klar, logisch und richtig, mit unerheblichen/vernachlässigbaren Problemen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Mostly clear, logical, and correct, with minor/negligible issues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Perfekt klar, logisch und richtig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Perfectly clear, logical, and correct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D3 – Visual Information Clarity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UM14  |  Label: Quality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2502440593"/>
              </p:ext>
            </p:extLst>
          </p:nvPr>
        </p:nvGraphicFramePr>
        <p:xfrm>
          <a:off x="782875" y="1134859"/>
          <a:ext cx="7239000" cy="3563616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Lernplattform liefert diesbezüglich keine Informationen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The learning platform does not provide any information on this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Empty</a:t>
                      </a:r>
                    </a:p>
                  </a:txBody>
                  <a:tcPr marL="45000" marR="45000" marT="10000" marB="10000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Die Quelle ist fragwürdig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The source is questionable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Es fehlt an Glaubwürdigkeit der Quelle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The source lacks credibility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47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 dirty="0" err="1"/>
                        <a:t>Keine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fragwürdige</a:t>
                      </a:r>
                      <a:r>
                        <a:rPr sz="1400" dirty="0"/>
                        <a:t> Quelle, </a:t>
                      </a:r>
                      <a:r>
                        <a:rPr sz="1400" dirty="0" err="1"/>
                        <a:t>aber</a:t>
                      </a:r>
                      <a:r>
                        <a:rPr sz="1400" dirty="0"/>
                        <a:t> die </a:t>
                      </a:r>
                      <a:r>
                        <a:rPr sz="1400" dirty="0" err="1"/>
                        <a:t>Legitimität</a:t>
                      </a:r>
                      <a:r>
                        <a:rPr sz="1400" dirty="0"/>
                        <a:t> der Quelle </a:t>
                      </a:r>
                      <a:r>
                        <a:rPr sz="1400" dirty="0" err="1"/>
                        <a:t>ist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unklar</a:t>
                      </a:r>
                      <a:endParaRPr sz="14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Not a questionable source, but the source's legitimacy is unclear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Stammt möglicherweise von einer legitimen Quelle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May come from a legitimate source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Stammt definitiv aus einer legitimen/spezialisierten Quelle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400"/>
                        <a:t>Definitely comes from a legitimate/specialized source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D4 – Source Credibility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UM15  |  Label: Quality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2629911530"/>
              </p:ext>
            </p:extLst>
          </p:nvPr>
        </p:nvGraphicFramePr>
        <p:xfrm>
          <a:off x="857216" y="1655942"/>
          <a:ext cx="7239000" cy="2464857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Ich würde die Lernplattform niemanden empfehlen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 would not recommend the learning platform to anyone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Ich würde die Lernplattform nur wenigen Personen empfehlen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 would recommend the learning platform to only a few people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Ich </a:t>
                      </a:r>
                      <a:r>
                        <a:rPr sz="1200" dirty="0" err="1"/>
                        <a:t>würde</a:t>
                      </a:r>
                      <a:r>
                        <a:rPr sz="1200" dirty="0"/>
                        <a:t> die </a:t>
                      </a:r>
                      <a:r>
                        <a:rPr sz="1200" dirty="0" err="1"/>
                        <a:t>Lernplattform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einigen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Personen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empfehlen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 would recommend the learning platform to some people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3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Ich </a:t>
                      </a:r>
                      <a:r>
                        <a:rPr sz="1200" dirty="0" err="1"/>
                        <a:t>würde</a:t>
                      </a:r>
                      <a:r>
                        <a:rPr sz="1200" dirty="0"/>
                        <a:t> die </a:t>
                      </a:r>
                      <a:r>
                        <a:rPr sz="1200" dirty="0" err="1"/>
                        <a:t>Lernplattform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vielen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Personen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empfehlen</a:t>
                      </a:r>
                      <a:endParaRPr sz="1200" dirty="0"/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 would recommend the learning platform to many people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Ich würde die Lernplattform jedem empfehlen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I would recommend the learning platform to everyone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/>
              <a:t>E1 – Likelihood to Recommend</a:t>
            </a:r>
            <a:endParaRPr dirty="0"/>
          </a:p>
          <a:p>
            <a:r>
              <a:rPr sz="1100" b="0" i="1" dirty="0">
                <a:solidFill>
                  <a:srgbClr val="595959"/>
                </a:solidFill>
              </a:rPr>
              <a:t>Question ID: UM16  |  Label: Recommendation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3242656953"/>
              </p:ext>
            </p:extLst>
          </p:nvPr>
        </p:nvGraphicFramePr>
        <p:xfrm>
          <a:off x="782875" y="1451444"/>
          <a:ext cx="7239000" cy="1916224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205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Nie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Never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1-2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1-2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3-10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3-10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91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10-50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10-50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31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&gt;50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&gt;50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E2 – Recommendation Reach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UM17  |  Label: Frequency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1050000"/>
          <a:ext cx="7239000" cy="30392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Überhaupt nicht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Not at all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Auf jeden Fall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00"/>
                        <a:t>Definitely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E3 – Willingness to Recommend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UM18  |  Label: Degree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2132392134"/>
              </p:ext>
            </p:extLst>
          </p:nvPr>
        </p:nvGraphicFramePr>
        <p:xfrm>
          <a:off x="782875" y="1050000"/>
          <a:ext cx="7239000" cy="244895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Eine der schlechtesten Lernplattformen, die ich je genutzt habe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One of the worst learning platforms I've ever used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 Durchschnittlich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 Average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649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Eine der besten Lernplattformen, die ich je genutzt habe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5 One of the best learning platforms I've ever used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E4 – Overall Platform Rating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UM19  |  Label: Quality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2829320703"/>
              </p:ext>
            </p:extLst>
          </p:nvPr>
        </p:nvGraphicFramePr>
        <p:xfrm>
          <a:off x="775441" y="1354800"/>
          <a:ext cx="7239000" cy="2449988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Stimme überhaupt nicht zu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Strongly disagree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Stimme sehr zu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Strongly 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F1 – Agreement Statement 1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UM20  |  Label: Agreement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3226650801"/>
              </p:ext>
            </p:extLst>
          </p:nvPr>
        </p:nvGraphicFramePr>
        <p:xfrm>
          <a:off x="952500" y="1429142"/>
          <a:ext cx="7239000" cy="1789844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Stimme überhaupt nicht zu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Strongly disagree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17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66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Stimme sehr zu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Strongly 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F2 – Agreement Statement 2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UM21  |  Label: Agreement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2571805625"/>
              </p:ext>
            </p:extLst>
          </p:nvPr>
        </p:nvGraphicFramePr>
        <p:xfrm>
          <a:off x="827480" y="1287893"/>
          <a:ext cx="7239000" cy="2094644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Stimme überhaupt nicht zu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Strongly disagree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2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35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Stimme sehr zu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Strongly 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F3 – Agreement Statement 3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UM22  |  Label: Agreement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2048574003"/>
              </p:ext>
            </p:extLst>
          </p:nvPr>
        </p:nvGraphicFramePr>
        <p:xfrm>
          <a:off x="952500" y="1561599"/>
          <a:ext cx="7239000" cy="2020302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Stimme überhaupt nicht zu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Strongly disagree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48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Stimme sehr zu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Strongly 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F4 – Agreement Statement 4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UM23  |  Label: Agreement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930608539"/>
              </p:ext>
            </p:extLst>
          </p:nvPr>
        </p:nvGraphicFramePr>
        <p:xfrm>
          <a:off x="849782" y="1535579"/>
          <a:ext cx="7239000" cy="2072341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Stimme überhaupt nicht zu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Strongly disagree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38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95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Stimme sehr zu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Strongly 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F5 – Agreement Statement 5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UM24  |  Label: Agreement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>
            <p:extLst>
              <p:ext uri="{D42A27DB-BD31-4B8C-83A1-F6EECF244321}">
                <p14:modId xmlns:p14="http://schemas.microsoft.com/office/powerpoint/2010/main" val="2661366397"/>
              </p:ext>
            </p:extLst>
          </p:nvPr>
        </p:nvGraphicFramePr>
        <p:xfrm>
          <a:off x="952500" y="1406839"/>
          <a:ext cx="7239000" cy="2035171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Stimme überhaupt nicht zu</a:t>
                      </a:r>
                    </a:p>
                  </a:txBody>
                  <a:tcPr marL="45000" marR="45000" marT="10000" marB="10000"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1 Strongly disagree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Very Negative</a:t>
                      </a:r>
                    </a:p>
                  </a:txBody>
                  <a:tcPr marL="45000" marR="45000" marT="10000" marB="100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2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Negative</a:t>
                      </a:r>
                    </a:p>
                  </a:txBody>
                  <a:tcPr marL="45000" marR="45000" marT="10000" marB="10000">
                    <a:solidFill>
                      <a:srgbClr val="F48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3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Neutral</a:t>
                      </a:r>
                    </a:p>
                  </a:txBody>
                  <a:tcPr marL="45000" marR="45000" marT="10000" marB="10000">
                    <a:solidFill>
                      <a:srgbClr val="FFE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68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 dirty="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4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Positive</a:t>
                      </a:r>
                    </a:p>
                  </a:txBody>
                  <a:tcPr marL="45000" marR="45000" marT="10000" marB="10000"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483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Stimme sehr zu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200"/>
                        <a:t>5 Strongly agree</a:t>
                      </a:r>
                    </a:p>
                  </a:txBody>
                  <a:tcPr marL="45000" marR="45000" marT="10000" marB="1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Very Positive</a:t>
                      </a:r>
                    </a:p>
                  </a:txBody>
                  <a:tcPr marL="45000" marR="45000" marT="10000" marB="10000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/>
              <a:t>F6 – Agreement Statement 6</a:t>
            </a:r>
            <a:endParaRPr/>
          </a:p>
          <a:p>
            <a:r>
              <a:rPr sz="1100" b="0" i="1">
                <a:solidFill>
                  <a:srgbClr val="595959"/>
                </a:solidFill>
              </a:rPr>
              <a:t>Question ID: UM25  |  Label: Agreement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Microsoft Office PowerPoint</Application>
  <PresentationFormat>Bildschirmpräsentation (16:9)</PresentationFormat>
  <Paragraphs>689</Paragraphs>
  <Slides>40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40</vt:i4>
      </vt:variant>
    </vt:vector>
  </HeadingPairs>
  <TitlesOfParts>
    <vt:vector size="42" baseType="lpstr">
      <vt:lpstr>Arial</vt:lpstr>
      <vt:lpstr>Simple Light</vt:lpstr>
      <vt:lpstr>PowerPoint-Präsentation</vt:lpstr>
      <vt:lpstr>Sentiment Scale &amp; the Knowledge Graph</vt:lpstr>
      <vt:lpstr>Likert Scale Answers (Ordinal)</vt:lpstr>
      <vt:lpstr>ME1 Module Questions – 1–10 Likert Sentiment Scale</vt:lpstr>
      <vt:lpstr>M005 – Media Type (Preference)_No Answer Category</vt:lpstr>
      <vt:lpstr>M007_01 / M008_01 – Open Text Responses, No Answer Categroy</vt:lpstr>
      <vt:lpstr>SU01_01 – System Usability Scale</vt:lpstr>
      <vt:lpstr>SU01_02 – System Usability Scale (reverse-scored)</vt:lpstr>
      <vt:lpstr>SU01_03 – System Usability Scale</vt:lpstr>
      <vt:lpstr>SU01_04 – System Usability Scale (reverse-scored)</vt:lpstr>
      <vt:lpstr>SU01_05 – System Usability Scale</vt:lpstr>
      <vt:lpstr>SU01_06 – System Usability Scale (reverse-scored)</vt:lpstr>
      <vt:lpstr>SU01_07 – System Usability Scale</vt:lpstr>
      <vt:lpstr>SU01_08 – System Usability Scale (reverse-scored)</vt:lpstr>
      <vt:lpstr>SU01_09 – System Usability Scale</vt:lpstr>
      <vt:lpstr>SU01_10 – System Usability Scale (reverse-scored)</vt:lpstr>
      <vt:lpstr>A1 – Entertainment Value Question ID: UM01  |  Label: Quality</vt:lpstr>
      <vt:lpstr>A2 – Interest &amp; Engagement Question ID: UM02  |  Label: Quality</vt:lpstr>
      <vt:lpstr>A3 – Interactivity Question ID: UM03  |  Label: Quality</vt:lpstr>
      <vt:lpstr>A4 – Target Audience Fit Question ID: UM04  |  Label: Quality</vt:lpstr>
      <vt:lpstr>B1 – System Functionality Question ID: UM06  |  Label: Quality</vt:lpstr>
      <vt:lpstr>B2 – Ease of Use Question ID: UM07  |  Label: Quality</vt:lpstr>
      <vt:lpstr>B3 – Navigation Question ID: UM08  |  Label: Quality</vt:lpstr>
      <vt:lpstr>C1 – Overall Design Quality Question ID: UM09  |  Label: Quality</vt:lpstr>
      <vt:lpstr>C2 – Graphics Quality Question ID: UM10  |  Label: Quality</vt:lpstr>
      <vt:lpstr>C3 – Visual Appeal Question ID: UM11  |  Label: Quality</vt:lpstr>
      <vt:lpstr>D1 – Content Relevance Question ID: UM12  |  Label: Quality</vt:lpstr>
      <vt:lpstr>D2 – Content Comprehensiveness Question ID: UM13  |  Label: Quality</vt:lpstr>
      <vt:lpstr>D3 – Visual Information Clarity Question ID: UM14  |  Label: Quality</vt:lpstr>
      <vt:lpstr>D4 – Source Credibility Question ID: UM15  |  Label: Quality</vt:lpstr>
      <vt:lpstr>E1 – Likelihood to Recommend Question ID: UM16  |  Label: Recommendation</vt:lpstr>
      <vt:lpstr>E2 – Recommendation Reach Question ID: UM17  |  Label: Frequency</vt:lpstr>
      <vt:lpstr>E3 – Willingness to Recommend Question ID: UM18  |  Label: Degree</vt:lpstr>
      <vt:lpstr>E4 – Overall Platform Rating Question ID: UM19  |  Label: Quality</vt:lpstr>
      <vt:lpstr>F1 – Agreement Statement 1 Question ID: UM20  |  Label: Agreement</vt:lpstr>
      <vt:lpstr>F2 – Agreement Statement 2 Question ID: UM21  |  Label: Agreement</vt:lpstr>
      <vt:lpstr>F3 – Agreement Statement 3 Question ID: UM22  |  Label: Agreement</vt:lpstr>
      <vt:lpstr>F4 – Agreement Statement 4 Question ID: UM23  |  Label: Agreement</vt:lpstr>
      <vt:lpstr>F5 – Agreement Statement 5 Question ID: UM24  |  Label: Agreement</vt:lpstr>
      <vt:lpstr>F6 – Agreement Statement 6 Question ID: UM25  |  Label: Agreement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Forghani Tehrani, Mahsa</cp:lastModifiedBy>
  <cp:revision>1</cp:revision>
  <dcterms:modified xsi:type="dcterms:W3CDTF">2026-07-08T15:57:41Z</dcterms:modified>
</cp:coreProperties>
</file>