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F62122-A02A-475E-AEE3-8C5089CD04BD}">
  <a:tblStyle styleId="{5FF62122-A02A-475E-AEE3-8C5089CD04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6c2d24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6c2d24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6c2d242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6c2d242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06c2d242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06c2d242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35941472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35941472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35941472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35941472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5941472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5941472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Likert Scale</a:t>
            </a:r>
            <a:endParaRPr/>
          </a:p>
        </p:txBody>
      </p:sp>
      <p:graphicFrame>
        <p:nvGraphicFramePr>
          <p:cNvPr id="61" name="Google Shape;61;p14"/>
          <p:cNvGraphicFramePr/>
          <p:nvPr/>
        </p:nvGraphicFramePr>
        <p:xfrm>
          <a:off x="952500" y="857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487075"/>
                <a:gridCol w="1694150"/>
                <a:gridCol w="2528900"/>
                <a:gridCol w="2528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 Value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Respond Label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 1-10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Respond Label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Scale 1-5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Sentiment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at all </a:t>
                      </a:r>
                      <a:r>
                        <a:rPr lang="en"/>
                        <a:t>(</a:t>
                      </a:r>
                      <a:r>
                        <a:rPr lang="en"/>
                        <a:t>überhaupt nicht)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Not true at all (trifft gar nicht zu)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 (trifft voll zu)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(</a:t>
                      </a:r>
                      <a:r>
                        <a:rPr lang="en"/>
                        <a:t>sehr)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Google Shape;66;p15"/>
          <p:cNvGraphicFramePr/>
          <p:nvPr/>
        </p:nvGraphicFramePr>
        <p:xfrm>
          <a:off x="952500" y="44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Langweilig, gar nicht unterhaltsam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Boring, not entertaining at 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Überwiegend langweilig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Mostly boring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OK, unterhaltsam genug um sich für eine kurze Zeit mit der Lernplattform zu beschäftigen (&lt; 5 Minuten)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OK, entertaining enough to keep a user engaged with the learning platform for a short time (&lt; 5 minutes)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Mittelmäßig lustig und unterhaltsam, würde einen User für einige Zeit unterhalten (5-10 Minuten)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Moderately funny and entertaining; would keep a user entertained for a while (5–10 minutes)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Sehr unterhaltsam und lustig, regt zu mehrmaligen Benutzen 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entertaining and funny; encourages repeated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6"/>
          <p:cNvGraphicFramePr/>
          <p:nvPr/>
        </p:nvGraphicFramePr>
        <p:xfrm>
          <a:off x="952500" y="44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Überhaupt nicht interessant</a:t>
                      </a:r>
                      <a:endParaRPr/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Boring, not entertaining at 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Überwiegend nicht interessant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Mostly boring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OK, weder interessant noch uninteressant; Nutzer würden sich damit eine kurze Zeit beschäftigen (&lt; 5 Minuten)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OK, neither interesting nor uninteresting; users would spend a short amount of time on it (&lt; 5 minutes)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Mittelmäßig interessant; Nutzer würden sich damit einige Zeit beschäftigen (insgesamt 5-10 Minuten)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Moderately funny and entertaining; would keep a user entertained for a while (5–10 minutes)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Überaus interessant, so dass man zur wiederholten Nutzung der Lernplattform angeregt wird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entertaining and funny; encourages repeated 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" name="Google Shape;76;p17"/>
          <p:cNvGraphicFramePr/>
          <p:nvPr/>
        </p:nvGraphicFramePr>
        <p:xfrm>
          <a:off x="952500" y="44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3007825"/>
                <a:gridCol w="3007850"/>
                <a:gridCol w="1223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Keine interaktiven Funktionen und/oder keine Eingaben der Nutzer sind möglich</a:t>
                      </a:r>
                      <a:endParaRPr/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interactive features and/or user input are possible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Unzureichende Interaktivität, oder Feedback, oder Optionen für Eingaben der User, limitierte Funktionalität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Insufficient interactivity, feedback, or options for user input; limited functionality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Grundlegende interaktive Funktionen, angemessene Funktionalität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Basic interactive features, adequate functionality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Vielfältige interaktive Funktionen, Feedback und Optionen für Eingaben der Nutzer sind vorhanden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 wide range of interactive features, feedback, and options for user input are available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Interaktive Funktionen, Feedback und Optionen für Eingaben der Nutzer sind auf einem so hohen Niveau, dass man das Gefühl hat, die Lernplattform stellt sich auf die Person des Nutzers ein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Interactive features, feedback, and user input options are so advanced that it feels as though the learning platform adapts to each individual user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Google Shape;81;p18"/>
          <p:cNvGraphicFramePr/>
          <p:nvPr/>
        </p:nvGraphicFramePr>
        <p:xfrm>
          <a:off x="782875" y="602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3007825"/>
                <a:gridCol w="3007850"/>
                <a:gridCol w="1223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Sehr unpassend/unklar/verwirrend</a:t>
                      </a:r>
                      <a:endParaRPr/>
                    </a:p>
                  </a:txBody>
                  <a:tcPr marT="91425" marB="91425" marR="91425" marL="91425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inappropriate/unclear/confusing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Eher unpassend/unklar/verwirrend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Somewhat inappropriate/unclear/confusing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OK, aber nicht Zielgruppen orientiert. Kann unpassend/unklar/verwirrend sein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OK, but not tailored to the target audience. May be inappropriate/unclear/confusing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Neutral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109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Zielgruppenspezifisch, mit kleinen Mängeln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Tailored to the target audience, with minor flaws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Positive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Sehr zielgruppenspezifisch, keine Probleme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Very well tailored to the target audience, no problems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Very Positive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Die Lernplattform funktioniert nicht. Keine oder unzureichende Antwort (z.B. Abbrüche, Fehler, nicht funktionierende Funktionen, etc.)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The learning platform is not working. No response or an inadequate response (e.g., crashes, errors, features not working, etc.)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Einige Funktionen laufen, jedoch langsam oder größere technische Probleme.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Some features are working, but slowly or with major technical issues.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Lernplattform funktioniert im Allgemeinen. Einige technische Probleme oder gelegentlich langsam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The learning platform generally works. Some technical issues or occasional slowness.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Die Lernplattform funktioniert insgesamt gut, mit kleineren, vernachlässigbaren Problemen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The learning platform works well overall, with minor, negligible issues.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Die Lernplattform arbeitet fehlerfrei und schnell; keine technischen Fehler, oder – falls zutreffend – enthält einen Fortschrittsbalken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The learning platform operates quickly and without errors; no technical errors, or—if applicable—includes a progress bar.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Keine oder unzureichende Erklärungen; Menübeschriftungen und Symbole sind verwirrend und/oder kompliziert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No explanations or insufficient explanations; menu labels and icons are confusing and/or complicated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Nach hohem Aufwand benutzbar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Usable after considerable effort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Nach einigem Aufwand benutzbar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Usable after some effort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Benutzung ist leicht erlernbar oder die Lernplattform weist klare Instruktionen zur Benutzung auf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Easy to learn how to use, or the learning platform provides clear instructions for use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Eine intuitive und einfache Benutzung der Lernplattform ist sofort möglich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The learning platform can be used intuitively and easily right away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Verschiedene Abschnitte wirken unzusammenhängend/zufällig/verwirrend. Die Navigation ist kompliziert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Various sections seem disjointed/random/confusing. Navigation is complicated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Nach geraumer Zeit und hohem Aufwand benutzbar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Usable after a considerable amount of time and effort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Nach einiger Zeit und einigem Bemühen benutzbar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Usable after some time and some effort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Leicht zu bedienen; es fehlen vernachlässigbare Verknüpfungen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Easy to use; only a few minor shortcuts are missing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Sehr logisch, einfach, klar und intuitive Menüführung. Bietet Verknüpfungen zum schnellen Wechsel zwischen verschiedenen Bereichen/Menüpunkten an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logical, simple, clear, and intuitive menu navigation. Provides shortcuts for quickly switching between different sections/menu items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Mangelhaftes Design – unordentlich/ungeordnet; einige Optionen können nicht ausgewählt, gefunden, gesehen oder gelesen werden; Bildschirm wird nicht optimal genutzt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Poor design—messy/disorganized; some options cannot be selected, found, seen, or read; screen space is not used optimally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Schwaches Design - nicht einheitlich, unklar; einige Optionen sind schwierig auszuwählen, zu finden, zu sehen und zu lesen.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Weak design—inconsistent, unclear; some options are difficult to select, find, see, and read.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Mittelmäßige Qualität des Designs - einige Probleme Optionen auszuwählen, zu finden, zu sehen und zu lesen.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Mediocre design quality—some difficulty selecting, finding, seeing, and reading options.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Gutes Design - überwiegend klar; Optionen können ausgewählt, gefunden, gesehen und gelesen werden.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Good design—mostly clear; options can be selected, found, seen, and read.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Professionelles Design - einfach, klar, übersichtlich, logisch organisiert; Bildschirm wird optimal genutzt; jede einzelne Komponente des Designs erfüllt seinen Zweck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Professional design—simple, clear, well-organized, logically structured; screen space is used optimally; every design component serves its purpose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Grafiken wirken amateurhaft, schlechtes visuelles Design - völlig unproportional, stilistisch nicht einheitlich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Graphics look amateurish; poor visual design—completely out of proportion and stylistically inconsistent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Niedrige Qualität (z.B. Auflösung) der Grafiken. Niedrige Qualität des visuellen Designs - unproportional und stilistisch nicht einheitlich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Low quality (e.g., resolution) of graphics. Low quality of visual design—out of proportion and stylistically inconsistent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Mittelmäßige Qualität der Grafiken und des visuellen Designs - überwiegend einheitlich im Design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Mediocre quality of graphics and visual design—mostly consistent in design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Hohe Qualität der Grafiken und gute Auflösung des visuellen Designs - überwiegend proportional und einheitlich im Stil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High-quality graphics and good resolution in the visual design—mostly proportional and consistent in style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Sehr hohe Qualität der Grafiken und sehr gute Auflösung des visuellen Designs - durchgehend proportional und einheitlich im Stil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high-quality graphics and very good resolution in the visual design—consistently proportional and consistent in style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Kein visueller Anreiz - unangenehm zu betrachten, schwaches Design, beißende oder nicht zusammenpassende Farben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No visual appeal—unpleasant to look at, poor design, jarring or mismatched colors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Wenig visueller Anreiz - schlechtes Design, schlechter Farbgebrauch, visuell langweilig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Little visual appeal—poor design, poor use of color, visually boring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Etwas visueller Anreiz - durchschnittlich weder angenehm noch unangenehm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Some visual appeal—neither particularly pleasant nor unpleasant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Hoher visueller Anreiz - makellose Grafiken, einheitliches und professionelles Design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High visual appeal—flawless graphics, consistent and professional design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Wie in Punkt 4 beschrieben, darüber hinaus: Überaus großer visueller Anreiz - einprägsam, sticht positiv heraus; Farbgestaltung wirkt sich positiv auf die Optionen und die Menüführung der Lernplattform aus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As described in point 4, plus: Exceptionally high visual appeal—memorable, stands out positively; color scheme has a positive effect on the learning platform’s options and menu navigation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Die Lernplattform enthält keine Informationen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learning platform contains no information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Empty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Irrelevant, ungeeignet, unzusammenhängend, nicht korrekt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Irrelevant, unsuitable, incoherent, incorrect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Kaum relevant, kaum geeignet, kaum zusammenhängend, möglicherweise nicht korrekt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Barely relevant, barely suitable, barely coherent, possibly incorrect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Mittelmäßig relevant, mittelmäßig geeignet, mittelmäßig zusammenhängend, wirkt korrekt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Moderately relevant, moderately suitable, moderately coherent, appears 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Relevant, geeignet, zusammenhängend, korrekt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Relevant, suitable, coherent, 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Sehr Relevant, sehr geeignet, sehr zusammenhängend, sehr korrekt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relevant, very suitable, very coherent, very 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Die Lernplattform beinhaltet keine Informationen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learning platform does not contain any information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Empty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Minimal oder überfordernd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Minimal or overwhelming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Unzureichend oder möglicherweise überfordernd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Insufficient or potentially overwhelming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Ok, aber weder umfangreich noch prägnant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Okay, but neither comprehensive nor concise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Bietet eine große Menge an Informationen, hat Lücken oder unnötige Details oder bietet keine weiteren Hinweise auf Literatur zum Vertiefen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Offers a large amount of information, has gaps or unnecessary details, or does not provide further references to literature for further study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Umfangreich und prägnant; beinhaltet Hinweise auf Literatur zum Vertiefen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Comprehensive and concise; includes references to literature for further study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Lernplattform beinhaltet keine visuellen Informationen (beinhaltet z.B. nur Audio-Dateien oder Text)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learning platform does not contain any visual information (e.g., it contains only audio files or text)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Empty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Vollkommen unklar/verwirrend/falsch oder visuelle Informationen sind eigentlich nötig, fehlen aber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Completely unclear/confusing/incorrect, or visual information is actually necessary but is missing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Überwiegend unklar/verwirrend/falsch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Mostly unclear/confusing/incorrect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Ok, aber oft unklar/verwirrend/falsch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Okay, but often unclear/confusing/incorrect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Meistens klar, logisch und richtig, mit unerheblichen/vernachlässigbaren Problemen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Mostly clear, logical, and correct, with minor/negligible issues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Perfekt klar, logisch und richtig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Perfectly clear, logical, and correct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Lernplattform liefert diesbezüglich keine Informationen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learning platform does not provide any information on this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Empty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Die Quelle ist fragwürdig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source is questionable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Es fehlt an Glaubwürdigkeit der Quelle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The source lacks credibility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Keine fragwürdige Quelle, aber die Legitimität der Quelle ist unklar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Not a questionable source, but the source's legitimacy is unclear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Stammt möglicherweise von einer legitimen Quelle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May come from a legitimate source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Stammt definitiv aus einer legitimen/spezialisierten Quelle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Definitely comes from a legitimate/specialized source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8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Ich würde die Lernplattform niemanden empfehlen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 would not recommend the learning platform to anyone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Ich würde die Lernplattform nur wenigen Personen empfehlen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 would recommend the learning platform to only a few people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Ich würde die Lernplattform einigen Personen empfehlen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 would recommend the learning platform to some people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Ich würde die Lernplattform vielen Personen empfehlen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 would recommend the learning platform to many people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Ich würde die Lernplattform jedem empfehlen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I would recommend the learning platform to everyone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Nie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Never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1-2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1-2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3-10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3-10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10-50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10-50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&gt;50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&gt;50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Überhaupt nicht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Not at all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Auf jeden Fall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Definitely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Eine der schlechtesten Lernplattformen, die ich je genutzt habe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One of the worst learning platforms I've ever used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 Durchschnittlich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 Average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Eine der besten Lernplattformen, die ich je genutzt habe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One of the best learning platforms I've ever used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86" name="Google Shape;86;p19"/>
          <p:cNvGraphicFramePr/>
          <p:nvPr/>
        </p:nvGraphicFramePr>
        <p:xfrm>
          <a:off x="782875" y="602638"/>
          <a:ext cx="7239000" cy="3000000"/>
        </p:xfrm>
        <a:graphic>
          <a:graphicData uri="http://schemas.openxmlformats.org/drawingml/2006/table">
            <a:tbl>
              <a:tblPr>
                <a:noFill/>
                <a:tableStyleId>{5FF62122-A02A-475E-AEE3-8C5089CD04BD}</a:tableStyleId>
              </a:tblPr>
              <a:tblGrid>
                <a:gridCol w="2750000"/>
                <a:gridCol w="2750000"/>
                <a:gridCol w="1739000"/>
              </a:tblGrid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Stimme überhaupt nicht zu</a:t>
                      </a:r>
                    </a:p>
                  </a:txBody>
                  <a:tcPr marT="10000" marB="10000" marR="45000" marL="45000"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1 Strongly disagree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2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Negative</a:t>
                      </a:r>
                    </a:p>
                  </a:txBody>
                  <a:tcPr marT="10000" marB="10000" marR="45000" marL="45000"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3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Neutral</a:t>
                      </a:r>
                    </a:p>
                  </a:txBody>
                  <a:tcPr marT="10000" marB="10000" marR="45000" marL="45000"/>
                </a:tc>
              </a:tr>
              <a:tr h="110967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4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Positive</a:t>
                      </a:r>
                    </a:p>
                  </a:txBody>
                  <a:tcPr marT="10000" marB="10000" marR="45000" marL="45000"/>
                </a:tc>
              </a:tr>
              <a:tr h="786525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Stimme sehr zu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5 Strongly agree</a:t>
                      </a:r>
                    </a:p>
                  </a:txBody>
                  <a:tcPr marT="10000" marB="10000" marR="45000" marL="45000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sz="1000"/>
                        <a:t>Very Positive</a:t>
                      </a:r>
                    </a:p>
                  </a:txBody>
                  <a:tcPr marT="10000" marB="10000" marR="45000" marL="4500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